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21" y="1122363"/>
            <a:ext cx="9143524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21" y="3602038"/>
            <a:ext cx="9143524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07" y="1709738"/>
            <a:ext cx="10515052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07" y="4589463"/>
            <a:ext cx="1051505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68" y="1600200"/>
            <a:ext cx="537639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405" y="1600200"/>
            <a:ext cx="537639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44" y="365125"/>
            <a:ext cx="1051505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44" y="1681163"/>
            <a:ext cx="515751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44" y="2505075"/>
            <a:ext cx="515751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1879" y="1681163"/>
            <a:ext cx="518291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1879" y="2505075"/>
            <a:ext cx="518291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44" y="457200"/>
            <a:ext cx="3932033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2918" y="987425"/>
            <a:ext cx="6171879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44" y="2057400"/>
            <a:ext cx="3932033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44" y="457200"/>
            <a:ext cx="3932033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2918" y="987425"/>
            <a:ext cx="6171879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44" y="2057400"/>
            <a:ext cx="3932033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740" y="274638"/>
            <a:ext cx="2743057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68" y="274638"/>
            <a:ext cx="807015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568" y="274638"/>
            <a:ext cx="10972229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568" y="1600200"/>
            <a:ext cx="10972229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0"/>
            <a:ext cx="10223500" cy="9785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endParaRPr sz="3600" b="1" i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  <a:p>
            <a:pPr algn="l">
              <a:lnSpc>
                <a:spcPct val="100000"/>
              </a:lnSpc>
            </a:pPr>
            <a:r>
              <a:rPr sz="3600" b="1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 </a:t>
            </a:r>
            <a:r>
              <a:rPr sz="4800" b="1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CAPSTONE </a:t>
            </a:r>
            <a:r>
              <a:rPr sz="5400" b="1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PROJECT</a:t>
            </a:r>
            <a:endParaRPr sz="5400" b="1" i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6590" y="1375410"/>
            <a:ext cx="9244965" cy="1370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/>
              </a:rPr>
              <a:t>Affective Symbolic Music Generation</a:t>
            </a:r>
            <a:endParaRPr sz="4000" b="1" i="0">
              <a:solidFill>
                <a:schemeClr val="accent5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7535" y="2277745"/>
            <a:ext cx="10712450" cy="1212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Generating </a:t>
            </a:r>
            <a:r>
              <a:rPr sz="2400" b="0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Emotion-Conditioned Piano Music from Facial Expressions and Text</a:t>
            </a:r>
            <a:endParaRPr sz="2400" b="0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6590" y="2821940"/>
            <a:ext cx="4477385" cy="762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310" y="3311525"/>
            <a:ext cx="10487660" cy="2609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1300" b="1">
                <a:solidFill>
                  <a:srgbClr val="E69500"/>
                </a:solidFill>
                <a:latin typeface="Trebuchet MS" panose="020B0603020202020204"/>
              </a:defRPr>
            </a:pPr>
            <a:r>
              <a:rPr sz="1800">
                <a:solidFill>
                  <a:schemeClr val="tx1"/>
                </a:solidFill>
                <a:sym typeface="+mn-ea"/>
              </a:rPr>
              <a:t>School of Computer Science &amp; Engineering • Academic Year 2024–2025</a:t>
            </a:r>
            <a:endParaRPr sz="1800">
              <a:solidFill>
                <a:schemeClr val="tx1"/>
              </a:solidFill>
              <a:sym typeface="+mn-ea"/>
            </a:endParaRPr>
          </a:p>
          <a:p>
            <a:pPr>
              <a:spcBef>
                <a:spcPts val="800"/>
              </a:spcBef>
              <a:defRPr sz="1200">
                <a:solidFill>
                  <a:srgbClr val="FAF4EA"/>
                </a:solidFill>
                <a:latin typeface="Calibri" panose="020F0502020204030204"/>
              </a:defRPr>
            </a:pPr>
            <a:r>
              <a:rPr sz="1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Project Team: </a:t>
            </a:r>
            <a:endParaRPr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>
              <a:spcBef>
                <a:spcPts val="800"/>
              </a:spcBef>
              <a:defRPr sz="1200">
                <a:solidFill>
                  <a:srgbClr val="FAF4EA"/>
                </a:solidFill>
                <a:latin typeface="Calibri" panose="020F0502020204030204"/>
              </a:defRPr>
            </a:pPr>
            <a:r>
              <a:rPr sz="1400">
                <a:solidFill>
                  <a:schemeClr val="tx1"/>
                </a:solidFill>
                <a:sym typeface="+mn-ea"/>
              </a:rPr>
              <a:t> </a:t>
            </a:r>
            <a:r>
              <a:rPr lang="en-IN" sz="1400">
                <a:solidFill>
                  <a:schemeClr val="tx1"/>
                </a:solidFill>
                <a:sym typeface="+mn-ea"/>
              </a:rPr>
              <a:t>                       </a:t>
            </a:r>
            <a:r>
              <a:rPr lang="en-I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Hemendra Singh (23BAI11347)</a:t>
            </a:r>
            <a:endParaRPr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>
              <a:spcBef>
                <a:spcPts val="800"/>
              </a:spcBef>
              <a:defRPr sz="1200">
                <a:solidFill>
                  <a:srgbClr val="FAF4EA"/>
                </a:solidFill>
                <a:latin typeface="Calibri" panose="020F0502020204030204"/>
              </a:defRPr>
            </a:pPr>
            <a:r>
              <a:rPr lang="en-I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        </a:t>
            </a:r>
            <a:r>
              <a:rPr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I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Pratham Dholi (23BAI11220)</a:t>
            </a:r>
            <a:endParaRPr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>
              <a:spcBef>
                <a:spcPts val="800"/>
              </a:spcBef>
              <a:defRPr sz="1200">
                <a:solidFill>
                  <a:srgbClr val="FAF4EA"/>
                </a:solidFill>
                <a:latin typeface="Calibri" panose="020F0502020204030204"/>
              </a:defRPr>
            </a:pPr>
            <a:r>
              <a:rPr lang="en-I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          </a:t>
            </a:r>
            <a:r>
              <a:rPr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Sawan Gupta (23BAI10393)</a:t>
            </a:r>
            <a:endParaRPr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>
              <a:spcBef>
                <a:spcPts val="800"/>
              </a:spcBef>
              <a:defRPr sz="1200">
                <a:solidFill>
                  <a:srgbClr val="FAF4EA"/>
                </a:solidFill>
                <a:latin typeface="Calibri" panose="020F0502020204030204"/>
              </a:defRPr>
            </a:pPr>
            <a:r>
              <a:rPr lang="en-I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          </a:t>
            </a:r>
            <a:r>
              <a:rPr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Aditya Mishra (23BAI10249)</a:t>
            </a:r>
            <a:endParaRPr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>
              <a:spcBef>
                <a:spcPts val="800"/>
              </a:spcBef>
              <a:defRPr sz="1200">
                <a:solidFill>
                  <a:srgbClr val="FAF4EA"/>
                </a:solidFill>
                <a:latin typeface="Calibri" panose="020F0502020204030204"/>
              </a:defRPr>
            </a:pPr>
            <a:r>
              <a:rPr lang="en-I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          </a:t>
            </a:r>
            <a:r>
              <a:rPr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Manthan Ugale (23BAI10515)</a:t>
            </a:r>
            <a:endParaRPr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>
              <a:spcBef>
                <a:spcPts val="800"/>
              </a:spcBef>
              <a:defRPr sz="1200">
                <a:solidFill>
                  <a:srgbClr val="FAF4EA"/>
                </a:solidFill>
                <a:latin typeface="Calibri" panose="020F0502020204030204"/>
              </a:defRPr>
            </a:pPr>
            <a:r>
              <a:rPr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I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         </a:t>
            </a:r>
            <a:r>
              <a:rPr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Rahul Madhuraj (23BAI11307)</a:t>
            </a:r>
            <a:endParaRPr sz="1400" b="0" i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082665"/>
            <a:ext cx="7767955" cy="4489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>
                <a:solidFill>
                  <a:schemeClr val="tx1"/>
                </a:solidFill>
                <a:latin typeface="Calibri" panose="020F0502020204030204"/>
              </a:rPr>
              <a:t>Repository: </a:t>
            </a:r>
            <a:r>
              <a:rPr sz="1600" i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github.com/iamhemendra/affective-symbolic-music</a:t>
            </a:r>
            <a:endParaRPr sz="1600" i="0">
              <a:solidFill>
                <a:schemeClr val="accent1">
                  <a:lumMod val="75000"/>
                </a:schemeClr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" y="635"/>
            <a:ext cx="12167870" cy="68573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13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 	</a:t>
            </a:r>
            <a:endParaRPr lang="en-IN" sz="13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  <a:p>
            <a:pPr indent="457200" algn="l">
              <a:lnSpc>
                <a:spcPct val="100000"/>
              </a:lnSpc>
            </a:pPr>
            <a:r>
              <a:rPr sz="2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  <a:sym typeface="+mn-ea"/>
              </a:rPr>
              <a:t>TOPIC BRIEF</a:t>
            </a:r>
            <a:endParaRPr sz="20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  <a:p>
            <a:pPr indent="457200" algn="l">
              <a:lnSpc>
                <a:spcPct val="100000"/>
              </a:lnSpc>
            </a:pPr>
            <a:endParaRPr lang="en-IN" sz="20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3B"/>
                </a:solidFill>
                <a:latin typeface="Calibri" panose="020F0502020204030204"/>
              </a:rPr>
              <a:t>What This Project Does</a:t>
            </a:r>
            <a:endParaRPr sz="3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 b="1">
                <a:solidFill>
                  <a:srgbClr val="2B2E3A"/>
                </a:solidFill>
                <a:latin typeface="Calibri" panose="020F0502020204030204"/>
              </a:rPr>
              <a:t>Affective computing meets generative AI: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the system reads a person's emotional state from a webcam snapshot or a typed sentence.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 b="1">
                <a:solidFill>
                  <a:srgbClr val="2B2E3A"/>
                </a:solidFill>
                <a:latin typeface="Calibri" panose="020F0502020204030204"/>
              </a:rPr>
              <a:t>Emotion is mapped to Russell's 4-quadrant affect model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(Q1-Q4: excited, tense, sad, calm), giving one common signal for two very different input types.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 b="1">
                <a:solidFill>
                  <a:srgbClr val="2B2E3A"/>
                </a:solidFill>
                <a:latin typeface="Calibri" panose="020F0502020204030204"/>
              </a:rPr>
              <a:t>A quadrant-specific GPT-2 model,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trained on the EMOPIA piano dataset via MidiTok's REMI tokenization, generates a new polyphonic piano piece in that quadrant's style.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 b="1">
                <a:solidFill>
                  <a:srgbClr val="2B2E3A"/>
                </a:solidFill>
                <a:latin typeface="Calibri" panose="020F0502020204030204"/>
              </a:rPr>
              <a:t>The symbolic output is rendered to real audio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with FluidSynth and delivered through a live Gradio web app, alongside a downloadable .mid file.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2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635" y="-10160"/>
            <a:ext cx="12181840" cy="6868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13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       		</a:t>
            </a:r>
            <a:endParaRPr lang="en-IN" sz="13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  <a:p>
            <a:pPr indent="457200" algn="l">
              <a:lnSpc>
                <a:spcPct val="100000"/>
              </a:lnSpc>
            </a:pPr>
            <a:r>
              <a:rPr sz="2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  <a:sym typeface="+mn-ea"/>
              </a:rPr>
              <a:t>THE PROBLEM</a:t>
            </a:r>
            <a:endParaRPr sz="20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  <a:p>
            <a:pPr indent="457200" algn="l">
              <a:lnSpc>
                <a:spcPct val="100000"/>
              </a:lnSpc>
            </a:pPr>
            <a:endParaRPr lang="en-IN" sz="20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3787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3B"/>
                </a:solidFill>
                <a:latin typeface="Calibri" panose="020F0502020204030204"/>
              </a:rPr>
              <a:t>Problem Statement</a:t>
            </a:r>
            <a:endParaRPr sz="3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Background and generative music tools today are largely static: a fixed playlist, a mood *tag* picked manually, or pre-recorded loops that repeat regardless of how the listener actually feels in the moment.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Existing symbolic-music generation research (e.g. Music Transformer, MuseNet-style models) focuses on unconditional or genre-conditioned generation; they are not built to react to a live, personal emotional signal.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There is no lightweight, real-time pipeline that takes a face or a sentence, infers affect, and composes new music for that specific emotional state end-to-end — most prior work stops at classification or at offline batch generation.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3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0660"/>
            <a:ext cx="8776335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GOALS</a:t>
            </a:r>
            <a:endParaRPr sz="20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F3B"/>
                </a:solidFill>
                <a:latin typeface="Calibri" panose="020F0502020204030204"/>
              </a:rPr>
              <a:t>Objective </a:t>
            </a:r>
            <a:r>
              <a:rPr sz="3000" b="1" i="0">
                <a:solidFill>
                  <a:srgbClr val="1B1F3B"/>
                </a:solidFill>
                <a:latin typeface="Calibri" panose="020F0502020204030204"/>
              </a:rPr>
              <a:t>&amp; Scope</a:t>
            </a:r>
            <a:endParaRPr sz="3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68680" y="1947672"/>
            <a:ext cx="4800600" cy="457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Objectives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868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Build a real-time, dual-input (vision + text) emotion recognizer.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Map both modalities onto one shared affect representation.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Train quadrant-specific symbolic music generators on EMOPIA.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Deliver a playable, downloadable output through a live web UI.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6263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63640" y="1691640"/>
            <a:ext cx="82296" cy="448056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583680" y="19476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Scope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583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Solo piano, monophonic-instrument MIDI output only.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7 canonical facial emotions; English-language text sentiment.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4 discrete affect quadrants, not continuous valence/arousal regression.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Prototype-scale models trained on a single Colab GPU session.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4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SETUP</a:t>
            </a:r>
            <a:endParaRPr sz="13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1F3B"/>
                </a:solidFill>
                <a:latin typeface="Calibri" panose="020F0502020204030204"/>
              </a:rPr>
              <a:t>Hardware </a:t>
            </a:r>
            <a:r>
              <a:rPr sz="3000" b="1" i="0">
                <a:solidFill>
                  <a:srgbClr val="1B1F3B"/>
                </a:solidFill>
                <a:latin typeface="Calibri" panose="020F0502020204030204"/>
              </a:rPr>
              <a:t>&amp; Software Requirements</a:t>
            </a:r>
            <a:endParaRPr sz="3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68680" y="19476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Hardware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868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GPU: NVIDIA T4 (Colab) or any CUDA GPU, 8GB+ VRAM recommended for training.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CPU-only inference is supported but significantly slower.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Webcam or image upload for the facial-expression input path.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~2-3 GB free disk for the EMOPIA dataset, checkpoints and generated audio.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6263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63640" y="1691640"/>
            <a:ext cx="82296" cy="448056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583680" y="19476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Software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583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Python 3.10+, PyTorch, HuggingFace Transformers &amp; Accelerate.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MidiTok (REMI tokenizer) and Symusic for MIDI I/O.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FluidSynth + a General MIDI soundfont for audio rendering.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Gradio for the web UI; OpenCV / Pillow / MediaPipe for image handling.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5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PRIOR</a:t>
            </a:r>
            <a:r>
              <a:rPr b="1" i="0">
                <a:solidFill>
                  <a:srgbClr val="00B8A9"/>
                </a:solidFill>
                <a:latin typeface="Calibri" panose="020F0502020204030204"/>
              </a:rPr>
              <a:t> </a:t>
            </a:r>
            <a:r>
              <a:rPr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WORK</a:t>
            </a:r>
            <a:endParaRPr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1F3B"/>
                </a:solidFill>
                <a:latin typeface="Calibri" panose="020F0502020204030204"/>
              </a:rPr>
              <a:t>Existing </a:t>
            </a:r>
            <a:r>
              <a:rPr sz="3000" b="1" i="0">
                <a:solidFill>
                  <a:srgbClr val="1B1F3B"/>
                </a:solidFill>
                <a:latin typeface="Calibri" panose="020F0502020204030204"/>
              </a:rPr>
              <a:t>Solutions &amp; Their Limitations</a:t>
            </a:r>
            <a:endParaRPr sz="3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68680" y="19476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What exists today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868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Large unconditional symbolic generators (Music Transformer, MuseNet) produce high-quality music but with no notion of a listener's live emotional state.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Rule-based "mood playlist" apps tag tracks by a manually chosen label and play back pre-recorded audio — nothing is actually generated.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The EMOPIA paper itself demonstrates emotion-conditioned generation is feasible, but as an offline research benchmark, not a live application.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6263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63640" y="1691640"/>
            <a:ext cx="82296" cy="448056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583680" y="19476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Where they fall short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583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No direct pipeline from a face or a sentence to a piece of music.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Discrete manual mood tags instead of an inferred, continuous affect signal.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No integrated audio rendering or interactive delivery layer.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Emotion recognition and music generation are treated as separate research problems, never wired together end-to-end.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6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OUR </a:t>
            </a:r>
            <a:r>
              <a:rPr sz="20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APPROACH</a:t>
            </a:r>
            <a:endParaRPr sz="16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78510"/>
            <a:ext cx="111556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F3B"/>
                </a:solidFill>
                <a:latin typeface="Calibri" panose="020F0502020204030204"/>
              </a:rPr>
              <a:t>How We Solve These Gaps</a:t>
            </a:r>
            <a:endParaRPr sz="32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68680" y="19476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Unified conditioning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868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Two independent classifiers (facial FER + text sentiment) are both collapsed onto the same 4-quadrant Russell affect space, so the generator never needs to know which modality triggered it.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This decouples "how emotion was sensed" from "how music is generated."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6263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63640" y="1691640"/>
            <a:ext cx="82296" cy="448056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583680" y="19476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Real end-to-end delivery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583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Four lightweight, quadrant-specific GPT-2 models keep generation fast enough for near-real-time use on a free GPU.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Symbolic output is automatically synthesized to WAV and served — with the raw MIDI available for download — inside one live Gradio interface.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7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8765"/>
            <a:ext cx="73152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SYSTEM DESIGN</a:t>
            </a:r>
            <a:endParaRPr sz="20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End-to-End Workflow</a:t>
            </a:r>
            <a:endParaRPr sz="4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426464" cy="141732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 w="19050">
            <a:solidFill>
              <a:srgbClr val="00B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1B1F3B"/>
                </a:solidFill>
                <a:latin typeface="Calibri" panose="020F0502020204030204"/>
              </a:rPr>
              <a:t>Webcam Frame</a:t>
            </a:r>
            <a:endParaRPr sz="1100" b="1">
              <a:solidFill>
                <a:srgbClr val="1B1F3B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rgbClr val="1B1F3B"/>
                </a:solidFill>
                <a:latin typeface="Calibri" panose="020F0502020204030204"/>
              </a:rPr>
              <a:t>or Free Text</a:t>
            </a:r>
            <a:endParaRPr sz="1100" b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0391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74788D"/>
                </a:solidFill>
                <a:latin typeface="Calibri" panose="020F0502020204030204"/>
              </a:rPr>
              <a:t>STEP 1</a:t>
            </a:r>
            <a:endParaRPr sz="1000" b="1" i="0">
              <a:solidFill>
                <a:srgbClr val="74788D"/>
              </a:solidFill>
              <a:latin typeface="Calibri" panose="020F0502020204030204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975104" y="3040380"/>
            <a:ext cx="184861" cy="0"/>
          </a:xfrm>
          <a:prstGeom prst="bentConnector3">
            <a:avLst/>
          </a:prstGeom>
          <a:ln w="22225">
            <a:solidFill>
              <a:srgbClr val="444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59965" y="2331720"/>
            <a:ext cx="1426464" cy="141732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 w="19050">
            <a:solidFill>
              <a:srgbClr val="00B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1B1F3B"/>
                </a:solidFill>
                <a:latin typeface="Calibri" panose="020F0502020204030204"/>
              </a:rPr>
              <a:t>Emotion Recognition</a:t>
            </a:r>
            <a:endParaRPr sz="1100" b="1">
              <a:solidFill>
                <a:srgbClr val="1B1F3B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rgbClr val="1B1F3B"/>
                </a:solidFill>
                <a:latin typeface="Calibri" panose="020F0502020204030204"/>
              </a:rPr>
              <a:t>(7-class FER / DistilRoBERTa)</a:t>
            </a:r>
            <a:endParaRPr sz="1100" b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59965" y="20391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74788D"/>
                </a:solidFill>
                <a:latin typeface="Calibri" panose="020F0502020204030204"/>
              </a:rPr>
              <a:t>STEP 2</a:t>
            </a:r>
            <a:endParaRPr sz="1000" b="1" i="0">
              <a:solidFill>
                <a:srgbClr val="74788D"/>
              </a:solidFill>
              <a:latin typeface="Calibri" panose="020F0502020204030204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586429" y="3040380"/>
            <a:ext cx="184861" cy="0"/>
          </a:xfrm>
          <a:prstGeom prst="bentConnector3">
            <a:avLst/>
          </a:prstGeom>
          <a:ln w="22225">
            <a:solidFill>
              <a:srgbClr val="444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71290" y="2331720"/>
            <a:ext cx="1426464" cy="141732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 w="1905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1B1F3B"/>
                </a:solidFill>
                <a:latin typeface="Calibri" panose="020F0502020204030204"/>
              </a:rPr>
              <a:t>Affect Quadrant</a:t>
            </a:r>
            <a:endParaRPr sz="1100" b="1">
              <a:solidFill>
                <a:srgbClr val="1B1F3B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rgbClr val="1B1F3B"/>
                </a:solidFill>
                <a:latin typeface="Calibri" panose="020F0502020204030204"/>
              </a:rPr>
              <a:t>Mapping (Russell)</a:t>
            </a:r>
            <a:endParaRPr sz="1100" b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71290" y="20391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74788D"/>
                </a:solidFill>
                <a:latin typeface="Calibri" panose="020F0502020204030204"/>
              </a:rPr>
              <a:t>STEP 3</a:t>
            </a:r>
            <a:endParaRPr sz="1000" b="1" i="0">
              <a:solidFill>
                <a:srgbClr val="74788D"/>
              </a:solidFill>
              <a:latin typeface="Calibri" panose="020F050202020403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197754" y="3040380"/>
            <a:ext cx="184861" cy="0"/>
          </a:xfrm>
          <a:prstGeom prst="bentConnector3">
            <a:avLst/>
          </a:prstGeom>
          <a:ln w="22225">
            <a:solidFill>
              <a:srgbClr val="444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82615" y="2331720"/>
            <a:ext cx="1426464" cy="141732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1B1F3B"/>
                </a:solidFill>
                <a:latin typeface="Calibri" panose="020F0502020204030204"/>
              </a:rPr>
              <a:t>Quadrant-wise</a:t>
            </a:r>
            <a:endParaRPr sz="1100" b="1">
              <a:solidFill>
                <a:srgbClr val="1B1F3B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rgbClr val="1B1F3B"/>
                </a:solidFill>
                <a:latin typeface="Calibri" panose="020F0502020204030204"/>
              </a:rPr>
              <a:t>GPT-2 Generation (REMI)</a:t>
            </a:r>
            <a:endParaRPr sz="1100" b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82615" y="20391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74788D"/>
                </a:solidFill>
                <a:latin typeface="Calibri" panose="020F0502020204030204"/>
              </a:rPr>
              <a:t>STEP 4</a:t>
            </a:r>
            <a:endParaRPr sz="1000" b="1" i="0">
              <a:solidFill>
                <a:srgbClr val="74788D"/>
              </a:solidFill>
              <a:latin typeface="Calibri" panose="020F0502020204030204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809080" y="3040380"/>
            <a:ext cx="184861" cy="0"/>
          </a:xfrm>
          <a:prstGeom prst="bentConnector3">
            <a:avLst/>
          </a:prstGeom>
          <a:ln w="22225">
            <a:solidFill>
              <a:srgbClr val="444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93940" y="2331720"/>
            <a:ext cx="1426464" cy="141732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1B1F3B"/>
                </a:solidFill>
                <a:latin typeface="Calibri" panose="020F0502020204030204"/>
              </a:rPr>
              <a:t>MIDI Detokenization</a:t>
            </a:r>
            <a:endParaRPr sz="1100" b="1">
              <a:solidFill>
                <a:srgbClr val="1B1F3B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rgbClr val="1B1F3B"/>
                </a:solidFill>
                <a:latin typeface="Calibri" panose="020F0502020204030204"/>
              </a:rPr>
              <a:t>&amp; Assembly</a:t>
            </a:r>
            <a:endParaRPr sz="1100" b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3940" y="20391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74788D"/>
                </a:solidFill>
                <a:latin typeface="Calibri" panose="020F0502020204030204"/>
              </a:rPr>
              <a:t>STEP 5</a:t>
            </a:r>
            <a:endParaRPr sz="1000" b="1" i="0">
              <a:solidFill>
                <a:srgbClr val="74788D"/>
              </a:solidFill>
              <a:latin typeface="Calibri" panose="020F050202020403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420405" y="3040380"/>
            <a:ext cx="184861" cy="0"/>
          </a:xfrm>
          <a:prstGeom prst="bentConnector3">
            <a:avLst/>
          </a:prstGeom>
          <a:ln w="22225">
            <a:solidFill>
              <a:srgbClr val="444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05265" y="2331720"/>
            <a:ext cx="1426464" cy="141732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 w="19050">
            <a:solidFill>
              <a:srgbClr val="00B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1B1F3B"/>
                </a:solidFill>
                <a:latin typeface="Calibri" panose="020F0502020204030204"/>
              </a:rPr>
              <a:t>FluidSynth</a:t>
            </a:r>
            <a:endParaRPr sz="1100" b="1">
              <a:solidFill>
                <a:srgbClr val="1B1F3B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rgbClr val="1B1F3B"/>
                </a:solidFill>
                <a:latin typeface="Calibri" panose="020F0502020204030204"/>
              </a:rPr>
              <a:t>Audio Synthesis</a:t>
            </a:r>
            <a:endParaRPr sz="1100" b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05265" y="20391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74788D"/>
                </a:solidFill>
                <a:latin typeface="Calibri" panose="020F0502020204030204"/>
              </a:rPr>
              <a:t>STEP 6</a:t>
            </a:r>
            <a:endParaRPr sz="1000" b="1" i="0">
              <a:solidFill>
                <a:srgbClr val="74788D"/>
              </a:solidFill>
              <a:latin typeface="Calibri" panose="020F0502020204030204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10031730" y="3040380"/>
            <a:ext cx="184861" cy="0"/>
          </a:xfrm>
          <a:prstGeom prst="bentConnector3">
            <a:avLst/>
          </a:prstGeom>
          <a:ln w="22225">
            <a:solidFill>
              <a:srgbClr val="444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216591" y="2331720"/>
            <a:ext cx="1426464" cy="141732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 w="1905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1B1F3B"/>
                </a:solidFill>
                <a:latin typeface="Calibri" panose="020F0502020204030204"/>
              </a:rPr>
              <a:t>Gradio UI</a:t>
            </a:r>
            <a:endParaRPr sz="1100" b="1">
              <a:solidFill>
                <a:srgbClr val="1B1F3B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rgbClr val="1B1F3B"/>
                </a:solidFill>
                <a:latin typeface="Calibri" panose="020F0502020204030204"/>
              </a:rPr>
              <a:t>(Audio + MIDI Download)</a:t>
            </a:r>
            <a:endParaRPr sz="1100" b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16591" y="20391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74788D"/>
                </a:solidFill>
                <a:latin typeface="Calibri" panose="020F0502020204030204"/>
              </a:rPr>
              <a:t>STEP 7</a:t>
            </a:r>
            <a:endParaRPr sz="1000" b="1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4297680"/>
            <a:ext cx="111099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74788D"/>
                </a:solidFill>
                <a:latin typeface="Calibri" panose="020F0502020204030204"/>
              </a:rPr>
              <a:t>Two input modalities are normalized onto one shared affect representation before generation begins.</a:t>
            </a:r>
            <a:endParaRPr sz="16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B8A9"/>
                </a:solidFill>
                <a:latin typeface="Calibri" panose="020F0502020204030204"/>
              </a:rPr>
              <a:t>Perception</a:t>
            </a:r>
            <a:endParaRPr sz="1200" b="1" i="0">
              <a:solidFill>
                <a:srgbClr val="00B8A9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28800" y="48463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7A59"/>
                </a:solidFill>
                <a:latin typeface="Calibri" panose="020F0502020204030204"/>
              </a:rPr>
              <a:t>Decision</a:t>
            </a:r>
            <a:endParaRPr sz="1200" b="1" i="0">
              <a:solidFill>
                <a:srgbClr val="FF7A59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26080" y="48463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3B"/>
                </a:solidFill>
                <a:latin typeface="Calibri" panose="020F0502020204030204"/>
              </a:rPr>
              <a:t>Generation </a:t>
            </a:r>
            <a:r>
              <a:rPr sz="1200" b="1" i="0">
                <a:solidFill>
                  <a:srgbClr val="1B1F3B"/>
                </a:solidFill>
                <a:latin typeface="Calibri" panose="020F0502020204030204"/>
              </a:rPr>
              <a:t>/ Output</a:t>
            </a:r>
            <a:endParaRPr sz="12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8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full_project_architecture_schem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065"/>
            <a:ext cx="12190730" cy="68694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271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5110"/>
            <a:ext cx="7559040" cy="325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AFFECT MODEL</a:t>
            </a:r>
            <a:endParaRPr sz="20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Russell's </a:t>
            </a:r>
            <a:r>
              <a:rPr sz="3000" b="1" i="0">
                <a:solidFill>
                  <a:srgbClr val="1B1F3B"/>
                </a:solidFill>
                <a:latin typeface="Calibri" panose="020F0502020204030204"/>
              </a:rPr>
              <a:t>Circumplex Model of Affect</a:t>
            </a:r>
            <a:endParaRPr sz="3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286000" y="3931920"/>
            <a:ext cx="3840480" cy="0"/>
          </a:xfrm>
          <a:prstGeom prst="bentConnector3">
            <a:avLst/>
          </a:prstGeom>
          <a:ln w="19050">
            <a:solidFill>
              <a:srgbClr val="444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rot="16200000">
            <a:off x="2560320" y="4137660"/>
            <a:ext cx="3429000" cy="3175"/>
          </a:xfrm>
          <a:prstGeom prst="bentConnector2">
            <a:avLst/>
          </a:prstGeom>
          <a:ln w="19050">
            <a:solidFill>
              <a:srgbClr val="444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35040" y="39867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44866"/>
                </a:solidFill>
                <a:latin typeface="Calibri" panose="020F0502020204030204"/>
              </a:rPr>
              <a:t>Valence →</a:t>
            </a:r>
            <a:endParaRPr sz="1200" b="1" i="0">
              <a:solidFill>
                <a:srgbClr val="444866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3320" y="1965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44866"/>
                </a:solidFill>
                <a:latin typeface="Calibri" panose="020F0502020204030204"/>
              </a:rPr>
              <a:t>Arousal ↑</a:t>
            </a:r>
            <a:endParaRPr sz="1200" b="1" i="0">
              <a:solidFill>
                <a:srgbClr val="444866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B8A9"/>
                </a:solidFill>
                <a:latin typeface="Calibri" panose="020F0502020204030204"/>
              </a:rPr>
              <a:t>Q1</a:t>
            </a:r>
            <a:endParaRPr sz="2000" b="1" i="0">
              <a:solidFill>
                <a:srgbClr val="00B8A9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17830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B2E3A"/>
                </a:solidFill>
                <a:latin typeface="Calibri" panose="020F0502020204030204"/>
              </a:rPr>
              <a:t>High </a:t>
            </a:r>
            <a:r>
              <a:rPr sz="1200" b="0" i="0">
                <a:solidFill>
                  <a:srgbClr val="2B2E3A"/>
                </a:solidFill>
                <a:latin typeface="Calibri" panose="020F0502020204030204"/>
              </a:rPr>
              <a:t>Valence </a:t>
            </a:r>
            <a:r>
              <a:rPr sz="1150" b="0" i="0">
                <a:solidFill>
                  <a:srgbClr val="2B2E3A"/>
                </a:solidFill>
                <a:latin typeface="Calibri" panose="020F0502020204030204"/>
              </a:rPr>
              <a:t>/ High Arousal</a:t>
            </a:r>
            <a:endParaRPr sz="1150" b="0" i="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43400" y="2926080"/>
            <a:ext cx="17830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74788D"/>
                </a:solidFill>
                <a:latin typeface="Calibri" panose="020F0502020204030204"/>
              </a:rPr>
              <a:t>Happy, Excited, Surprised</a:t>
            </a:r>
            <a:endParaRPr sz="12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8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7A59"/>
                </a:solidFill>
                <a:latin typeface="Calibri" panose="020F0502020204030204"/>
              </a:rPr>
              <a:t>Q2</a:t>
            </a:r>
            <a:endParaRPr sz="2000" b="1" i="0">
              <a:solidFill>
                <a:srgbClr val="FF7A59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2423160"/>
            <a:ext cx="17830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B2E3A"/>
                </a:solidFill>
                <a:latin typeface="Calibri" panose="020F0502020204030204"/>
              </a:rPr>
              <a:t>Low Valence </a:t>
            </a:r>
            <a:r>
              <a:rPr sz="1200" b="0" i="0">
                <a:solidFill>
                  <a:srgbClr val="2B2E3A"/>
                </a:solidFill>
                <a:latin typeface="Calibri" panose="020F0502020204030204"/>
              </a:rPr>
              <a:t>/ </a:t>
            </a:r>
            <a:r>
              <a:rPr sz="1150" b="0" i="0">
                <a:solidFill>
                  <a:srgbClr val="2B2E3A"/>
                </a:solidFill>
                <a:latin typeface="Calibri" panose="020F0502020204030204"/>
              </a:rPr>
              <a:t>High Arousal</a:t>
            </a:r>
            <a:endParaRPr sz="1150" b="0" i="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6000" y="2926080"/>
            <a:ext cx="178308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74788D"/>
                </a:solidFill>
                <a:latin typeface="Calibri" panose="020F0502020204030204"/>
              </a:rPr>
              <a:t>Angry, Afraid, Disgusted</a:t>
            </a:r>
            <a:endParaRPr sz="11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0" y="406908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1F3B"/>
                </a:solidFill>
                <a:latin typeface="Calibri" panose="020F0502020204030204"/>
              </a:rPr>
              <a:t>Q3</a:t>
            </a:r>
            <a:endParaRPr sz="2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86000" y="4480560"/>
            <a:ext cx="17830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E3A"/>
                </a:solidFill>
                <a:latin typeface="Calibri" panose="020F0502020204030204"/>
              </a:rPr>
              <a:t>Low Valence / Low Arousal</a:t>
            </a:r>
            <a:endParaRPr sz="1200" b="0" i="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4983480"/>
            <a:ext cx="17830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74788D"/>
                </a:solidFill>
                <a:latin typeface="Calibri" panose="020F0502020204030204"/>
              </a:rPr>
              <a:t>Sad, </a:t>
            </a:r>
            <a:r>
              <a:rPr sz="1200" b="0" i="1">
                <a:solidFill>
                  <a:srgbClr val="74788D"/>
                </a:solidFill>
                <a:latin typeface="Calibri" panose="020F0502020204030204"/>
              </a:rPr>
              <a:t>Depressed</a:t>
            </a:r>
            <a:endParaRPr sz="11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43400" y="406908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44866"/>
                </a:solidFill>
                <a:latin typeface="Calibri" panose="020F0502020204030204"/>
              </a:rPr>
              <a:t>Q4</a:t>
            </a:r>
            <a:endParaRPr sz="2000" b="1" i="0">
              <a:solidFill>
                <a:srgbClr val="444866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43400" y="4480560"/>
            <a:ext cx="17830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E3A"/>
                </a:solidFill>
                <a:latin typeface="Calibri" panose="020F0502020204030204"/>
              </a:rPr>
              <a:t>High Valence / Low Arousal</a:t>
            </a:r>
            <a:endParaRPr sz="1200" b="0" i="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43400" y="4983480"/>
            <a:ext cx="17830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74788D"/>
                </a:solidFill>
                <a:latin typeface="Calibri" panose="020F0502020204030204"/>
              </a:rPr>
              <a:t>Neutral, Calm, Relaxed</a:t>
            </a:r>
            <a:endParaRPr sz="12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06640" y="1737360"/>
            <a:ext cx="4206240" cy="4297680"/>
          </a:xfrm>
          <a:prstGeom prst="roundRect">
            <a:avLst>
              <a:gd name="adj" fmla="val 4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1965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1F3B"/>
                </a:solidFill>
                <a:latin typeface="Calibri" panose="020F0502020204030204"/>
              </a:rPr>
              <a:t>Why quadrants?</a:t>
            </a:r>
            <a:endParaRPr sz="16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26680" y="2423160"/>
            <a:ext cx="35661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300">
                <a:solidFill>
                  <a:srgbClr val="2B2E3A"/>
                </a:solidFill>
                <a:latin typeface="Calibri" panose="020F0502020204030204"/>
              </a:rPr>
              <a:t>Both the 7-class facial emotion output and the 7-class text sentiment output are collapsed onto the same 2D valence-arousal space.</a:t>
            </a:r>
            <a:endParaRPr sz="13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300">
                <a:solidFill>
                  <a:srgbClr val="2B2E3A"/>
                </a:solidFill>
                <a:latin typeface="Calibri" panose="020F0502020204030204"/>
              </a:rPr>
              <a:t>This gives one shared, model-agnostic conditioning signal (Q1-Q4) for the generator, regardless of which input modality was used.</a:t>
            </a:r>
            <a:endParaRPr sz="13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300">
                <a:solidFill>
                  <a:srgbClr val="2B2E3A"/>
                </a:solidFill>
                <a:latin typeface="Calibri" panose="020F0502020204030204"/>
              </a:rPr>
              <a:t>Each quadrant has its own dedicated fine-tuned generator, so the music style matches the psychological character of that quadrant.</a:t>
            </a:r>
            <a:endParaRPr sz="13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9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LAYER 1 OF 7</a:t>
            </a:r>
            <a:endParaRPr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05155"/>
            <a:ext cx="11155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Input Layer</a:t>
            </a:r>
            <a:endParaRPr sz="4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417320" cy="762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39112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9584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0056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0528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91472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74788D"/>
                </a:solidFill>
                <a:latin typeface="Calibri" panose="020F0502020204030204"/>
              </a:rPr>
              <a:t>Captures the raw signal from the user</a:t>
            </a:r>
            <a:endParaRPr sz="15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1064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Accepts either a live webcam frame / uploaded photo, or a free-text description of how the user feels.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Runs inside the Gradio UI with two dedicated tabs, so both paths share the same downstream pipeline.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10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LAYER 2 OF 7</a:t>
            </a:r>
            <a:endParaRPr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802640"/>
            <a:ext cx="11155680" cy="4933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F3B"/>
                </a:solidFill>
                <a:latin typeface="Calibri" panose="020F0502020204030204"/>
              </a:rPr>
              <a:t>Emotion Recognition Layer</a:t>
            </a:r>
            <a:endParaRPr sz="32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39112" y="1417320"/>
            <a:ext cx="1417320" cy="762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9584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0056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0528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91472" y="1417320"/>
            <a:ext cx="1417320" cy="76200"/>
          </a:xfrm>
          <a:prstGeom prst="rect">
            <a:avLst/>
          </a:prstGeom>
          <a:solidFill>
            <a:srgbClr val="DD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74788D"/>
                </a:solidFill>
                <a:latin typeface="Calibri" panose="020F0502020204030204"/>
              </a:rPr>
              <a:t>Converts raw input into a labeled emotion</a:t>
            </a:r>
            <a:endParaRPr sz="15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318385"/>
            <a:ext cx="11064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Image path: a 7-class facial-emotion classifier (happy, sad, angry, fear, disgust, surprise, neutral) built on a HuggingFace image-classification pipeline.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Text path: a DistilRoBERTa-based 7-class sentiment classifier scores the input sentence and returns the dominant emotion label plus its confidence.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11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LAYER 3 OF 7</a:t>
            </a:r>
            <a:endParaRPr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Affect Quadrant Mapping Layer</a:t>
            </a:r>
            <a:endParaRPr sz="4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74788D"/>
                </a:solidFill>
                <a:latin typeface="Calibri" panose="020F0502020204030204"/>
              </a:rPr>
              <a:t>Normalizes both modalities into one signal</a:t>
            </a:r>
            <a:endParaRPr sz="15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1064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Each of the 7 emotion labels (from either modality) is mapped onto Russell's Circumplex Model, resolving to one of four quadrants: Q1-Q4.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Low-confidence facial predictions default to the calm/neutral quadrant (Q4) as a safety fallback.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12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LAYER 4 OF 7</a:t>
            </a:r>
            <a:endParaRPr sz="16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Symbolic Generation Layer</a:t>
            </a:r>
            <a:endParaRPr sz="4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74788D"/>
                </a:solidFill>
                <a:latin typeface="Calibri" panose="020F0502020204030204"/>
              </a:rPr>
              <a:t>Composes new music in the target quadrant's style</a:t>
            </a:r>
            <a:endParaRPr sz="15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1064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A small causal GPT-2 model (4 layers, 4 heads, 256-dim embeddings) — one per quadrant — is fine-tuned on EMOPIA piano MIDI tokenized with MidiTok's REMI representation.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At inference, the quadrant-specific model autoregressively samples a new REMI token sequence (temperature 0.85, top-p 0.92).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13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LAYER 5 OF 7</a:t>
            </a:r>
            <a:endParaRPr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MIDI Detokenization &amp; Assembly Layer</a:t>
            </a:r>
            <a:endParaRPr sz="4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74788D"/>
                </a:solidFill>
                <a:latin typeface="Calibri" panose="020F0502020204030204"/>
              </a:rPr>
              <a:t>Turns generated tokens back into music notation</a:t>
            </a:r>
            <a:endParaRPr sz="15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1064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The REMI tokenizer decodes the sampled token sequence back into a structured musical score (pitch, duration, velocity, timing).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The score is written out as a standard, playable .mid file.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14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LAYER 6 OF 7</a:t>
            </a:r>
            <a:endParaRPr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Audio Synthesis Layer</a:t>
            </a:r>
            <a:endParaRPr sz="4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74788D"/>
                </a:solidFill>
                <a:latin typeface="Calibri" panose="020F0502020204030204"/>
              </a:rPr>
              <a:t>Renders the symbolic score to audible sound</a:t>
            </a:r>
            <a:endParaRPr sz="15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1064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A headless FluidSynth process renders the generated MIDI file against a General MIDI soundfont at 44.1kHz.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Output is a standard WAV file; rendering runs with a strict timeout so the UI never hangs on synthesis.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15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LAYER 7 OF 7</a:t>
            </a:r>
            <a:endParaRPr sz="16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65480"/>
            <a:ext cx="1115568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Presentation Layer</a:t>
            </a:r>
            <a:endParaRPr sz="4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74788D"/>
                </a:solidFill>
                <a:latin typeface="Calibri" panose="020F0502020204030204"/>
              </a:rPr>
              <a:t>Delivers the result back to the user</a:t>
            </a:r>
            <a:endParaRPr sz="1500" b="0" i="1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1064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A Gradio Blocks app shows the detected emotion/quadrant, an inline audio player for instant playback, and a file widget to download the raw MIDI.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2B2E3A"/>
                </a:solidFill>
                <a:latin typeface="Calibri" panose="020F0502020204030204"/>
              </a:rPr>
              <a:t>Runs as a single shareable web app — no separate front-end needed.</a:t>
            </a:r>
            <a:endParaRPr sz="170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16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APPLICATIONS</a:t>
            </a:r>
            <a:endParaRPr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Usability of the Application</a:t>
            </a:r>
            <a:endParaRPr sz="4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68680" y="19476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Direct use cases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868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Adaptive, mood-matched background music for wellness, meditation or study apps.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Dynamic soundtracks for games and interactive media that react to the player.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A quick prototyping tool for content creators who need mood-specific score ideas.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6263640" y="1691640"/>
            <a:ext cx="5349240" cy="4480560"/>
          </a:xfrm>
          <a:prstGeom prst="roundRect">
            <a:avLst>
              <a:gd name="adj" fmla="val 35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63640" y="1691640"/>
            <a:ext cx="82296" cy="448056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583680" y="19476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3B"/>
                </a:solidFill>
                <a:latin typeface="Calibri" panose="020F0502020204030204"/>
              </a:rPr>
              <a:t>Value delivered</a:t>
            </a:r>
            <a:endParaRPr sz="18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583680" y="25146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Lets people with no music-composition training generate an original, emotion-matched piece from a selfie or a sentence.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 sz="1450">
                <a:solidFill>
                  <a:srgbClr val="2B2E3A"/>
                </a:solidFill>
                <a:latin typeface="Calibri" panose="020F0502020204030204"/>
              </a:rPr>
              <a:t>Demonstrates a practical, teachable bridge between affective computing and generative sequence models.</a:t>
            </a:r>
            <a:endParaRPr sz="1450"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17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WHAT'S NEXT</a:t>
            </a:r>
            <a:endParaRPr sz="16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2330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3B"/>
                </a:solidFill>
                <a:latin typeface="Calibri" panose="020F0502020204030204"/>
              </a:rPr>
              <a:t>Scope for Future Improvement</a:t>
            </a:r>
            <a:endParaRPr sz="3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2732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>
                <a:solidFill>
                  <a:srgbClr val="2B2E3A"/>
                </a:solidFill>
                <a:latin typeface="Calibri" panose="020F0502020204030204"/>
              </a:rPr>
              <a:t>Move from 4 discrete quadrants to continuous valence-arousal regression for finer-grained emotional control.</a:t>
            </a:r>
            <a:endParaRPr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>
                <a:solidFill>
                  <a:srgbClr val="2B2E3A"/>
                </a:solidFill>
                <a:latin typeface="Calibri" panose="020F0502020204030204"/>
              </a:rPr>
              <a:t>Extend beyond solo piano to multi-instrument / orchestral generation using richer symbolic representations.</a:t>
            </a:r>
            <a:endParaRPr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>
                <a:solidFill>
                  <a:srgbClr val="2B2E3A"/>
                </a:solidFill>
                <a:latin typeface="Calibri" panose="020F0502020204030204"/>
              </a:rPr>
              <a:t>Fuse facial expression, voice tone and text simultaneously for a more robust, multimodal affect estimate.</a:t>
            </a:r>
            <a:endParaRPr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>
                <a:solidFill>
                  <a:srgbClr val="2B2E3A"/>
                </a:solidFill>
                <a:latin typeface="Calibri" panose="020F0502020204030204"/>
              </a:rPr>
              <a:t>Replace the small per-quadrant GPT-2 models with a single larger pretrained symbolic-music foundation model, fine-tuned per quadrant, for better long-range musical structure.</a:t>
            </a:r>
            <a:endParaRPr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>
                <a:solidFill>
                  <a:srgbClr val="2B2E3A"/>
                </a:solidFill>
                <a:latin typeface="Calibri" panose="020F0502020204030204"/>
              </a:rPr>
              <a:t>Optimize for sub-second streaming generation to support live performance or interactive installations.</a:t>
            </a:r>
            <a:endParaRPr>
              <a:solidFill>
                <a:srgbClr val="2B2E3A"/>
              </a:solidFill>
              <a:latin typeface="Calibri" panose="020F0502020204030204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>
                <a:solidFill>
                  <a:srgbClr val="00B8A9"/>
                </a:solidFill>
                <a:latin typeface="Calibri" panose="020F0502020204030204"/>
              </a:rPr>
              <a:t>▸  </a:t>
            </a:r>
            <a:r>
              <a:rPr>
                <a:solidFill>
                  <a:srgbClr val="2B2E3A"/>
                </a:solidFill>
                <a:latin typeface="Calibri" panose="020F0502020204030204"/>
              </a:rPr>
              <a:t>Add a user feedback loop (like/dislike or explicit ratings) to personalize generated style over repeated use.</a:t>
            </a:r>
            <a:endParaRPr>
              <a:solidFill>
                <a:srgbClr val="2B2E3A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18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</a:rPr>
              <a:t>REFERENCES</a:t>
            </a:r>
            <a:endParaRPr sz="1600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8660"/>
            <a:ext cx="11155680" cy="4464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1F3B"/>
                </a:solidFill>
                <a:latin typeface="Calibri" panose="020F0502020204030204"/>
              </a:rPr>
              <a:t>Research Paper Citations</a:t>
            </a:r>
            <a:endParaRPr sz="4000" b="1" i="0">
              <a:solidFill>
                <a:srgbClr val="1B1F3B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40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1099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561320"/>
              </a:tblGrid>
              <a:tr h="5372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#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Citation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B1F3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1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Hung, H-T., Ching, J., Doh, S., Kim, N., Nam, J., &amp; Yang, Y-H. (2021). EMOPIA: A Multi-Modal Pop Piano Dataset for Emotion Recognition and Emotion-based Music Generation. Proc. ISMIR 2021, 318-325.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2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Fradet, N., Briot, J-P., Chhel, F., El Fallah Seghrouchni, A., &amp; Gutowski, N. (2021). MidiTok: A Python Package for MIDI File Tokenization. Late-Breaking Demos, ISMIR 2021.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3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3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Russell, J. A. (1980). A Circumplex Model of Affect. Journal of Personality and Social Psychology, 39(6), 1161-1178.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4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Radford, A., Wu, J., Child, R., Luan, D., Amodei, D., &amp; Sutskever, I. (2019). Language Models are Unsupervised Multitask Learners (GPT-2). OpenAI.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3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5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Vaswani, A., Shazeer, N., Parmar, N., et al. (2017). Attention Is All You Need. Advances in NeurIPS 30.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6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Liu, Y., Ott, M., Goyal, N., et al. (2019). RoBERTa: A Robustly Optimized BERT Pretraining Approach. arXiv:1907.11692.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3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7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E3A"/>
                          </a:solidFill>
                          <a:latin typeface="Calibri" panose="020F0502020204030204"/>
                        </a:rPr>
                        <a:t>Sanh, V., Debut, L., Chaumond, J., &amp; Wolf, T. (2019). DistilBERT: Smaller, Faster, Cheaper and Lighter. arXiv:1910.01108.</a:t>
                      </a:r>
                      <a:endParaRPr sz="1250">
                        <a:solidFill>
                          <a:srgbClr val="2B2E3A"/>
                        </a:solidFill>
                        <a:latin typeface="Calibri" panose="020F0502020204030204"/>
                      </a:endParaRPr>
                    </a:p>
                  </a:txBody>
                  <a:tcPr marL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Affective Symbolic Music Generation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4788D"/>
                </a:solidFill>
                <a:latin typeface="Calibri" panose="020F0502020204030204"/>
              </a:rPr>
              <a:t>19</a:t>
            </a:r>
            <a:endParaRPr sz="1000" b="0" i="0">
              <a:solidFill>
                <a:srgbClr val="7478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8195" y="1069975"/>
            <a:ext cx="10083165" cy="1230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chemeClr val="tx1"/>
                </a:solidFill>
                <a:latin typeface="Calibri" panose="020F0502020204030204"/>
              </a:rPr>
              <a:t>Thank You</a:t>
            </a:r>
            <a:endParaRPr sz="8000" b="1" i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chemeClr val="tx1"/>
                </a:solidFill>
                <a:latin typeface="Calibri" panose="020F0502020204030204"/>
              </a:rPr>
              <a:t>Questions &amp; Discussion</a:t>
            </a:r>
            <a:endParaRPr sz="3600" b="0" i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github.com/iamhemendra/affective-symbolic-music</a:t>
            </a:r>
            <a:endParaRPr b="0" i="0">
              <a:solidFill>
                <a:schemeClr val="accent1">
                  <a:lumMod val="75000"/>
                </a:schemeClr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4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5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6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7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8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9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0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1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2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3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4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5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6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7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8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19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0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1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2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3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4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5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6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7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8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29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0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1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2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3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4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5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6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7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8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39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ags/tag40.xml><?xml version="1.0" encoding="utf-8"?>
<p:tagLst xmlns:p="http://schemas.openxmlformats.org/presentationml/2006/main">
  <p:tag name="KSO_WM_DIAGRAM_VIRTUALLY_FRAME" val="{&quot;height&quot;:352.8,&quot;left&quot;:43.2,&quot;top&quot;:133.2,&quot;width&quot;:871.2}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10893</Words>
  <Application>WPS Presentation</Application>
  <PresentationFormat>On-screen Show (4:3)</PresentationFormat>
  <Paragraphs>393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Trebuchet MS</vt:lpstr>
      <vt:lpstr>Microsoft YaHei</vt:lpstr>
      <vt:lpstr>Arial Unicode MS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Hemendra Singh</cp:lastModifiedBy>
  <cp:revision>5</cp:revision>
  <dcterms:created xsi:type="dcterms:W3CDTF">2013-01-27T09:14:00Z</dcterms:created>
  <dcterms:modified xsi:type="dcterms:W3CDTF">2026-09-22T08:15:57Z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47EED041085E469CB4F47DD39A0CE36E_13</vt:lpwstr>
  </property>
  <property fmtid="{D5CDD505-2E9C-101B-9397-08002B2CF9AE}" pid="3" name="KSOProductBuildVer">
    <vt:lpwstr>2057-12.2.0.23206</vt:lpwstr>
  </property>
</Properties>
</file>